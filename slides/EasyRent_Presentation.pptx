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21808"/>
            <a:ext cx="12188952" cy="91440"/>
          </a:xfrm>
          <a:prstGeom prst="rect">
            <a:avLst/>
          </a:prstGeom>
          <a:solidFill>
            <a:srgbClr val="4CA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13248"/>
            <a:ext cx="12188952" cy="1444752"/>
          </a:xfrm>
          <a:prstGeom prst="rect">
            <a:avLst/>
          </a:prstGeom>
          <a:solidFill>
            <a:srgbClr val="12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005840"/>
            <a:ext cx="9445752" cy="39776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1005840"/>
            <a:ext cx="9445752" cy="73152"/>
          </a:xfrm>
          <a:prstGeom prst="rect">
            <a:avLst/>
          </a:prstGeom>
          <a:solidFill>
            <a:srgbClr val="4CA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143000"/>
            <a:ext cx="94457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1A2F5E"/>
                </a:solidFill>
              </a:rPr>
              <a:t>EasyRent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103120"/>
            <a:ext cx="94457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E5EA8"/>
                </a:solidFill>
              </a:rPr>
              <a:t>Apartment Renting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697480"/>
            <a:ext cx="9445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657A"/>
                </a:solidFill>
              </a:rPr>
              <a:t>Service Oriented Architecture  •  Final Project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3200400"/>
            <a:ext cx="5422392" cy="36576"/>
          </a:xfrm>
          <a:prstGeom prst="rect">
            <a:avLst/>
          </a:prstGeom>
          <a:solidFill>
            <a:srgbClr val="4CA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3291840"/>
            <a:ext cx="94457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657A"/>
                </a:solidFill>
              </a:rPr>
              <a:t>Edin Snopche  •  Mesut Izeti  •  Besjana Sulejmani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53212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CAFE0"/>
                </a:solidFill>
              </a:rPr>
              <a:t>South East European University  |  2025–26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4CA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80467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CAFE0"/>
                </a:solidFill>
              </a:rPr>
              <a:t>What EasyRent is and why it exists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44752"/>
            <a:ext cx="3703320" cy="5138928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554480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🏠  Problem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66543"/>
            <a:ext cx="370332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2176272"/>
            <a:ext cx="345643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Finding and renting apartments today involves
scattered listings, manual communication, and
no reliable availability or pricing transparency.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1444752"/>
            <a:ext cx="3703320" cy="5138928"/>
          </a:xfrm>
          <a:prstGeom prst="rect">
            <a:avLst/>
          </a:prstGeom>
          <a:solidFill>
            <a:srgbClr val="2E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554480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💻  Solution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59" y="2066543"/>
            <a:ext cx="370332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2176272"/>
            <a:ext cx="345643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EasyRent is a web-based platform where landlords
publish apartment listings and tenants can search,
book, and pay — all from a single interface.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444752"/>
            <a:ext cx="3703320" cy="5138928"/>
          </a:xfrm>
          <a:prstGeom prst="rect">
            <a:avLst/>
          </a:prstGeom>
          <a:solidFill>
            <a:srgbClr val="1A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554480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🎯  Goal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2066543"/>
            <a:ext cx="370332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2176272"/>
            <a:ext cx="345643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Centralized listing management, automated
overlap checking, booking state-machine tracking,
and mock direct-debit payment processing.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4CA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User Roles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80467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CAFE0"/>
                </a:solidFill>
              </a:rPr>
              <a:t>Three distinct roles with role-based access control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3520440" cy="5166360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08760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🛡️  Admin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57400"/>
            <a:ext cx="35204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3200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▶  Full system access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99232"/>
            <a:ext cx="3200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▶  Manage all users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03904"/>
            <a:ext cx="3200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▶  View all listings &amp; bookings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608576"/>
            <a:ext cx="3200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▶  Oversee system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417320"/>
            <a:ext cx="3520440" cy="5166360"/>
          </a:xfrm>
          <a:prstGeom prst="rect">
            <a:avLst/>
          </a:prstGeom>
          <a:solidFill>
            <a:srgbClr val="2E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1508760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🏢  Landlord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2057400"/>
            <a:ext cx="35204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2194560"/>
            <a:ext cx="3200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▶  Create &amp; manage listings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999232"/>
            <a:ext cx="3200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▶  Set pricing &amp; availability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803904"/>
            <a:ext cx="3200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▶  Approve or reject bookings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608576"/>
            <a:ext cx="3200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▶  View incoming requests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1417320"/>
            <a:ext cx="3520440" cy="5166360"/>
          </a:xfrm>
          <a:prstGeom prst="rect">
            <a:avLst/>
          </a:prstGeom>
          <a:solidFill>
            <a:srgbClr val="1A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1508760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👤  Tenant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2057400"/>
            <a:ext cx="35204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2194560"/>
            <a:ext cx="3200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▶  Search &amp; browse apartments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999232"/>
            <a:ext cx="3200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▶  Request bookings by date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803904"/>
            <a:ext cx="3200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▶  Manage own reservations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4608576"/>
            <a:ext cx="3200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▶  Complete mock payment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4CA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80467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CAFE0"/>
                </a:solidFill>
              </a:rPr>
              <a:t>Selected for SOA compliance, cloud readiness, and testability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371600"/>
            <a:ext cx="2743200" cy="5230368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444752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Backend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1920240"/>
            <a:ext cx="274320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029968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 .NET 8 (LTS)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8346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 ASP.NET Core Web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639312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 Entity Framework 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443984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 ASP.NET Identity + JWT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248656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 AutoMapper + FluentValidation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1371600"/>
            <a:ext cx="2743200" cy="5230368"/>
          </a:xfrm>
          <a:prstGeom prst="rect">
            <a:avLst/>
          </a:prstGeom>
          <a:solidFill>
            <a:srgbClr val="2E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1444752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1920240"/>
            <a:ext cx="274320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10128" y="2029968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 Angular 17+ (Standalone)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0128" y="28346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 Angular Material UI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0128" y="3639312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 TypeScript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0128" y="4443984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 JWT Interceptor &amp; Guards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10128" y="5248656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 SCSS Styling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1371600"/>
            <a:ext cx="2743200" cy="5230368"/>
          </a:xfrm>
          <a:prstGeom prst="rect">
            <a:avLst/>
          </a:prstGeom>
          <a:solidFill>
            <a:srgbClr val="6A1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36208" y="1444752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Cloud &amp; DevOps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920240"/>
            <a:ext cx="274320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54496" y="2029968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 Azure App Service (API)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54496" y="28346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 Azure SQL Database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54496" y="3639312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 Azure Static Web Apps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54496" y="4443984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 GitHub Actions CI/CD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54496" y="5248656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 Docker-ready publish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89136" y="1371600"/>
            <a:ext cx="2743200" cy="5230368"/>
          </a:xfrm>
          <a:prstGeom prst="rect">
            <a:avLst/>
          </a:prstGeom>
          <a:solidFill>
            <a:srgbClr val="1A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80576" y="1444752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Testing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89136" y="1920240"/>
            <a:ext cx="274320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98863" y="2029968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 xUnit (unit tests)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98863" y="28346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 Moq (mocking)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98863" y="3639312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 FluentAssertions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98863" y="4443984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 EF Core InMemory DB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98863" y="5248656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 5 test suites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4CA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80467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CAFE0"/>
                </a:solidFill>
              </a:rPr>
              <a:t>Layered (Onion) Architecture — dependency arrow always points inward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89888"/>
            <a:ext cx="11457432" cy="1170432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81328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Domain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1444752"/>
            <a:ext cx="795527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Entities: ApplicationUser, Apartment, Booking, Payment
Enums: BookingStatus, PaymentStatus
Zero external dependencies — pure C# classes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2560320"/>
            <a:ext cx="6400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F5E"/>
                </a:solidFill>
              </a:rPr>
              <a:t>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660904"/>
            <a:ext cx="11457432" cy="1170432"/>
          </a:xfrm>
          <a:prstGeom prst="rect">
            <a:avLst/>
          </a:prstGeom>
          <a:solidFill>
            <a:srgbClr val="2E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752344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Application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715768"/>
            <a:ext cx="795527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DTOs, Service &amp; Repository Interfaces, AutoMapper Profile
FluentValidation validators, Custom Exceptions
Depends only on Domain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3831336"/>
            <a:ext cx="6400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F5E"/>
                </a:solidFill>
              </a:rPr>
              <a:t>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931920"/>
            <a:ext cx="11457432" cy="1170432"/>
          </a:xfrm>
          <a:prstGeom prst="rect">
            <a:avLst/>
          </a:prstGeom>
          <a:solidFill>
            <a:srgbClr val="6A1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023359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Infrastructure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3986783"/>
            <a:ext cx="795527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AppDbContext (EF Core + Identity), Generic + Specific Repositories
Migrations, DbSeeder (roles + admin), DependencyInjection.cs
Implements all Application interfaces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5102352"/>
            <a:ext cx="6400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F5E"/>
                </a:solidFill>
              </a:rPr>
              <a:t>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202936"/>
            <a:ext cx="11457432" cy="1170432"/>
          </a:xfrm>
          <a:prstGeom prst="rect">
            <a:avLst/>
          </a:prstGeom>
          <a:solidFill>
            <a:srgbClr val="1A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5294375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API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5257799"/>
            <a:ext cx="795527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5 Controllers, JWT Auth middleware, ExceptionHandlingMiddleware
Swagger/OpenAPI, CORS policy, Program.cs composition root
Depends on Application only (via DI)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4CA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Core Domain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80467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CAFE0"/>
                </a:solidFill>
              </a:rPr>
              <a:t>Four main entities and their relationships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371600"/>
            <a:ext cx="2715768" cy="5230368"/>
          </a:xfrm>
          <a:prstGeom prst="rect">
            <a:avLst/>
          </a:prstGeom>
          <a:solidFill>
            <a:srgbClr val="FFFFFF"/>
          </a:solidFill>
          <a:ln w="25400">
            <a:solidFill>
              <a:srgbClr val="1A2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1371600"/>
            <a:ext cx="2715768" cy="502920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426464"/>
            <a:ext cx="25328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ApplicationUser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56816"/>
            <a:ext cx="25328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657A"/>
                </a:solidFill>
              </a:rPr>
              <a:t>Id (IdentityUser base)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615184"/>
            <a:ext cx="25328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657A"/>
                </a:solidFill>
              </a:rPr>
              <a:t>FullName : string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273552"/>
            <a:ext cx="25328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657A"/>
                </a:solidFill>
              </a:rPr>
              <a:t>Email, PasswordHash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931920"/>
            <a:ext cx="25328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657A"/>
                </a:solidFill>
              </a:rPr>
              <a:t>Role: Admin/Landlord/Tenant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590288"/>
            <a:ext cx="25328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657A"/>
                </a:solidFill>
              </a:rPr>
              <a:t>→ Apartments (1:N)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248656"/>
            <a:ext cx="25328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657A"/>
                </a:solidFill>
              </a:rPr>
              <a:t>→ Bookings (1:N)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1371600"/>
            <a:ext cx="2715768" cy="5230368"/>
          </a:xfrm>
          <a:prstGeom prst="rect">
            <a:avLst/>
          </a:prstGeom>
          <a:solidFill>
            <a:srgbClr val="FFFFFF"/>
          </a:solidFill>
          <a:ln w="25400">
            <a:solidFill>
              <a:srgbClr val="2E5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1371600"/>
            <a:ext cx="2715768" cy="502920"/>
          </a:xfrm>
          <a:prstGeom prst="rect">
            <a:avLst/>
          </a:prstGeom>
          <a:solidFill>
            <a:srgbClr val="2E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1426464"/>
            <a:ext cx="25328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Apartment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0128" y="1956816"/>
            <a:ext cx="25328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657A"/>
                </a:solidFill>
              </a:rPr>
              <a:t>Id, Title, Description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0128" y="2615184"/>
            <a:ext cx="25328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657A"/>
                </a:solidFill>
              </a:rPr>
              <a:t>City, Address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0128" y="3273552"/>
            <a:ext cx="25328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657A"/>
                </a:solidFill>
              </a:rPr>
              <a:t>PricePerNight : decimal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10128" y="3931920"/>
            <a:ext cx="25328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657A"/>
                </a:solidFill>
              </a:rPr>
              <a:t>Bedrooms : int, IsActive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10128" y="4590288"/>
            <a:ext cx="25328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657A"/>
                </a:solidFill>
              </a:rPr>
              <a:t>→ LandlordId (FK)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10128" y="5248656"/>
            <a:ext cx="25328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657A"/>
                </a:solidFill>
              </a:rPr>
              <a:t>→ Bookings (1:N)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371600"/>
            <a:ext cx="2715768" cy="5230368"/>
          </a:xfrm>
          <a:prstGeom prst="rect">
            <a:avLst/>
          </a:prstGeom>
          <a:solidFill>
            <a:srgbClr val="FFFFFF"/>
          </a:solidFill>
          <a:ln w="25400">
            <a:solidFill>
              <a:srgbClr val="6A1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371600"/>
            <a:ext cx="2715768" cy="502920"/>
          </a:xfrm>
          <a:prstGeom prst="rect">
            <a:avLst/>
          </a:prstGeom>
          <a:solidFill>
            <a:srgbClr val="6A1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36208" y="1426464"/>
            <a:ext cx="25328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Booking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54496" y="1956816"/>
            <a:ext cx="25328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657A"/>
                </a:solidFill>
              </a:rPr>
              <a:t>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54496" y="2615184"/>
            <a:ext cx="25328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657A"/>
                </a:solidFill>
              </a:rPr>
              <a:t>ApartmentId (FK)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54496" y="3273552"/>
            <a:ext cx="25328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657A"/>
                </a:solidFill>
              </a:rPr>
              <a:t>TenantId (FK)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54496" y="3931920"/>
            <a:ext cx="25328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657A"/>
                </a:solidFill>
              </a:rPr>
              <a:t>CheckIn / CheckOut : DateTime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54496" y="4590288"/>
            <a:ext cx="25328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657A"/>
                </a:solidFill>
              </a:rPr>
              <a:t>TotalPrice : decimal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54496" y="5248656"/>
            <a:ext cx="25328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657A"/>
                </a:solidFill>
              </a:rPr>
              <a:t>Status : BookingStatus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54496" y="5907024"/>
            <a:ext cx="25328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657A"/>
                </a:solidFill>
              </a:rPr>
              <a:t>→ Payment (1:1)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89136" y="1371600"/>
            <a:ext cx="2715768" cy="5230368"/>
          </a:xfrm>
          <a:prstGeom prst="rect">
            <a:avLst/>
          </a:prstGeom>
          <a:solidFill>
            <a:srgbClr val="FFFFFF"/>
          </a:solidFill>
          <a:ln w="25400">
            <a:solidFill>
              <a:srgbClr val="8A3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89136" y="1371600"/>
            <a:ext cx="2715768" cy="502920"/>
          </a:xfrm>
          <a:prstGeom prst="rect">
            <a:avLst/>
          </a:prstGeom>
          <a:solidFill>
            <a:srgbClr val="8A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80576" y="1426464"/>
            <a:ext cx="25328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Payment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98863" y="1956816"/>
            <a:ext cx="25328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657A"/>
                </a:solidFill>
              </a:rPr>
              <a:t>Id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98863" y="2615184"/>
            <a:ext cx="25328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657A"/>
                </a:solidFill>
              </a:rPr>
              <a:t>BookingId (FK)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98863" y="3273552"/>
            <a:ext cx="25328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657A"/>
                </a:solidFill>
              </a:rPr>
              <a:t>Amount : decimal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98863" y="3931920"/>
            <a:ext cx="25328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657A"/>
                </a:solidFill>
              </a:rPr>
              <a:t>Method : "DirectDebit"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98863" y="4590288"/>
            <a:ext cx="25328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657A"/>
                </a:solidFill>
              </a:rPr>
              <a:t>Status : PaymentStatus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98863" y="5248656"/>
            <a:ext cx="25328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657A"/>
                </a:solidFill>
              </a:rPr>
              <a:t>PaidAt : DateTime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4CA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Booking Lifecycle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80467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CAFE0"/>
                </a:solidFill>
              </a:rPr>
              <a:t>State machine enforced server-side in BookingService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788920"/>
            <a:ext cx="2194560" cy="868680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862072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PENDING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8269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Tenant submits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40" y="1645920"/>
            <a:ext cx="2194560" cy="868680"/>
          </a:xfrm>
          <a:prstGeom prst="rect">
            <a:avLst/>
          </a:prstGeom>
          <a:solidFill>
            <a:srgbClr val="2E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719072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APPROVED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13969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Landlord approves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20440" y="3931920"/>
            <a:ext cx="2194560" cy="868680"/>
          </a:xfrm>
          <a:prstGeom prst="rect">
            <a:avLst/>
          </a:prstGeom>
          <a:solidFill>
            <a:srgbClr val="8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4005072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REJECTED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442569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Landlord rejects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645920"/>
            <a:ext cx="2194560" cy="868680"/>
          </a:xfrm>
          <a:prstGeom prst="rect">
            <a:avLst/>
          </a:prstGeom>
          <a:solidFill>
            <a:srgbClr val="1A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719072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PAID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13969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Tenant pays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931920"/>
            <a:ext cx="2194560" cy="868680"/>
          </a:xfrm>
          <a:prstGeom prst="rect">
            <a:avLst/>
          </a:prstGeom>
          <a:solidFill>
            <a:srgbClr val="8A5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4005072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CANCELLED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442569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Tenant cancels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98280" y="1645920"/>
            <a:ext cx="2194560" cy="868680"/>
          </a:xfrm>
          <a:prstGeom prst="rect">
            <a:avLst/>
          </a:prstGeom>
          <a:solidFill>
            <a:srgbClr val="1A4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98280" y="1719072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COMPLETED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213969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Stay finished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71800" y="23317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F5E"/>
                </a:solidFill>
              </a:rPr>
              <a:t>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71800" y="338328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F5E"/>
                </a:solidFill>
              </a:rPr>
              <a:t>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0" y="196596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F5E"/>
                </a:solidFill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422452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F5E"/>
                </a:solidFill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196596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F5E"/>
                </a:solidFill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214884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E5EA8"/>
                </a:solidFill>
              </a:rPr>
              <a:t>approve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406908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1A1A"/>
                </a:solidFill>
              </a:rPr>
              <a:t>reject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33288" y="178308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6B4A"/>
                </a:solidFill>
              </a:rPr>
              <a:t>pay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33288" y="4041648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551A"/>
                </a:solidFill>
              </a:rPr>
              <a:t>cancel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22208" y="1783080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4A1A"/>
                </a:solidFill>
              </a:rPr>
              <a:t>finish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989320"/>
            <a:ext cx="11475720" cy="658368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6062472"/>
            <a:ext cx="11247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4CAFE0"/>
                </a:solidFill>
              </a:rPr>
              <a:t>Business Rules:  price = nights × PricePerNight  •  Overlap check blocks double-booking  •  Role enforced on every transition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4CA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Authentication &amp; Authorization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80467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CAFE0"/>
                </a:solidFill>
              </a:rPr>
              <a:t>JWT + ASP.NET Identity — covers 20 pts of the grading rubric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349240" cy="1572768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CAFE0"/>
                </a:solidFill>
              </a:rPr>
              <a:t>Registration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47672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POST /api/auth/register
User picks role at sign-up (Tenant / Landlord)
Password hashed by ASP.NET Identity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136391"/>
            <a:ext cx="5349240" cy="1572768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22783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CAFE0"/>
                </a:solidFill>
              </a:rPr>
              <a:t>Login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666744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POST /api/auth/login
Returns signed JWT (HS256)
Payload: userId, email, role, expiry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855464"/>
            <a:ext cx="5349240" cy="1572768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946903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CAFE0"/>
                </a:solidFill>
              </a:rPr>
              <a:t>Token Usage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385816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Every secured request carries:
Authorization: Bearer &lt;token&gt;
ASP.NET validates signature + expiry automatically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371600"/>
            <a:ext cx="5760720" cy="5230368"/>
          </a:xfrm>
          <a:prstGeom prst="rect">
            <a:avLst/>
          </a:prstGeom>
          <a:solidFill>
            <a:srgbClr val="2E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444752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🔒  Role-Based Authorization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1947672"/>
            <a:ext cx="576072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2029968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CAFE0"/>
                </a:solidFill>
              </a:rPr>
              <a:t>[Authorize(Roles="Admin")]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377440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  • GET /api/admin/users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2724912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  • GET /api/admin/bookings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3072384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3419856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CAFE0"/>
                </a:solidFill>
              </a:rPr>
              <a:t>[Authorize(Roles="Landlord")]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3767328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  • POST/PUT/DELETE /api/apartments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4114800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  • GET /api/bookings/incoming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4462272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  • Approve / Reject booking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4809744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5157216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CAFE0"/>
                </a:solidFill>
              </a:rPr>
              <a:t>[Authorize(Roles="Tenant")]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5504688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  • POST /api/bookings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5852160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  • POST /api/payments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6199632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  • GET  /api/bookings/mine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4CA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REST API Endpoints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80467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CAFE0"/>
                </a:solidFill>
              </a:rPr>
              <a:t>5 controllers — fully documented via Swagger / OpenAPI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1371600"/>
            <a:ext cx="2267712" cy="502920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17320"/>
            <a:ext cx="2148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/api/auth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" y="1920240"/>
            <a:ext cx="226771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1A2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1975104"/>
            <a:ext cx="212140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A"/>
                </a:solidFill>
              </a:rPr>
              <a:t>POST /register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" y="2688336"/>
            <a:ext cx="226771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1A2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" y="2743200"/>
            <a:ext cx="212140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A"/>
                </a:solidFill>
              </a:rPr>
              <a:t>POST /login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78608" y="1371600"/>
            <a:ext cx="2267712" cy="502920"/>
          </a:xfrm>
          <a:prstGeom prst="rect">
            <a:avLst/>
          </a:prstGeom>
          <a:solidFill>
            <a:srgbClr val="2E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1417320"/>
            <a:ext cx="2148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/api/apartments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78608" y="1920240"/>
            <a:ext cx="226771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2E5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70048" y="1975104"/>
            <a:ext cx="212140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A"/>
                </a:solidFill>
              </a:rPr>
              <a:t>GET / (search+paginate, public)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78608" y="2688336"/>
            <a:ext cx="226771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2E5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70048" y="2743200"/>
            <a:ext cx="212140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A"/>
                </a:solidFill>
              </a:rPr>
              <a:t>GET /{id} (public)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78608" y="3456432"/>
            <a:ext cx="226771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2E5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70048" y="3511296"/>
            <a:ext cx="212140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A"/>
                </a:solidFill>
              </a:rPr>
              <a:t>POST / (Landlord)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78608" y="4224528"/>
            <a:ext cx="226771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2E5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70048" y="4279392"/>
            <a:ext cx="212140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A"/>
                </a:solidFill>
              </a:rPr>
              <a:t>PUT /{id} (Landlord, owner)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78608" y="4992624"/>
            <a:ext cx="226771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2E5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70048" y="5047488"/>
            <a:ext cx="212140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A"/>
                </a:solidFill>
              </a:rPr>
              <a:t>DELETE /{id} (Landlord, owner)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56048" y="1371600"/>
            <a:ext cx="2267712" cy="502920"/>
          </a:xfrm>
          <a:prstGeom prst="rect">
            <a:avLst/>
          </a:prstGeom>
          <a:solidFill>
            <a:srgbClr val="6A1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0" y="1417320"/>
            <a:ext cx="2148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/api/bookings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56048" y="1920240"/>
            <a:ext cx="226771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6A1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47488" y="1975104"/>
            <a:ext cx="212140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A"/>
                </a:solidFill>
              </a:rPr>
              <a:t>POST / (Tenant)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956048" y="2688336"/>
            <a:ext cx="226771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6A1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47488" y="2743200"/>
            <a:ext cx="212140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A"/>
                </a:solidFill>
              </a:rPr>
              <a:t>GET /mine (Tenant)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56048" y="3456432"/>
            <a:ext cx="226771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6A1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3511296"/>
            <a:ext cx="212140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A"/>
                </a:solidFill>
              </a:rPr>
              <a:t>GET /incoming (Landlord)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56048" y="4224528"/>
            <a:ext cx="226771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6A1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47488" y="4279392"/>
            <a:ext cx="212140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A"/>
                </a:solidFill>
              </a:rPr>
              <a:t>PATCH /{id}/approve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56048" y="4992624"/>
            <a:ext cx="226771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6A1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47488" y="5047488"/>
            <a:ext cx="212140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A"/>
                </a:solidFill>
              </a:rPr>
              <a:t>PATCH /{id}/reject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56048" y="5760720"/>
            <a:ext cx="226771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6A1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47488" y="5815584"/>
            <a:ext cx="212140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A"/>
                </a:solidFill>
              </a:rPr>
              <a:t>PATCH /{id}/cancel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33488" y="1371600"/>
            <a:ext cx="2267712" cy="502920"/>
          </a:xfrm>
          <a:prstGeom prst="rect">
            <a:avLst/>
          </a:prstGeom>
          <a:solidFill>
            <a:srgbClr val="1A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06640" y="1417320"/>
            <a:ext cx="2148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/api/payments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33488" y="1920240"/>
            <a:ext cx="226771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1A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24928" y="1975104"/>
            <a:ext cx="212140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A"/>
                </a:solidFill>
              </a:rPr>
              <a:t>POST / (Tenant)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33488" y="2688336"/>
            <a:ext cx="226771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1A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24928" y="2743200"/>
            <a:ext cx="212140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A"/>
                </a:solidFill>
              </a:rPr>
              <a:t>GET /mine (Tenant)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710928" y="1371600"/>
            <a:ext cx="2267712" cy="502920"/>
          </a:xfrm>
          <a:prstGeom prst="rect">
            <a:avLst/>
          </a:prstGeom>
          <a:solidFill>
            <a:srgbClr val="8A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784080" y="1417320"/>
            <a:ext cx="2148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/api/admin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710928" y="1920240"/>
            <a:ext cx="226771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8A3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802368" y="1975104"/>
            <a:ext cx="212140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A"/>
                </a:solidFill>
              </a:rPr>
              <a:t>GET /users (Admin)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710928" y="2688336"/>
            <a:ext cx="226771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8A3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802368" y="2743200"/>
            <a:ext cx="212140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A"/>
                </a:solidFill>
              </a:rPr>
              <a:t>GET /bookings (Admin)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4CA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Angular 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80467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CAFE0"/>
                </a:solidFill>
              </a:rPr>
              <a:t>Standalone components + Angular Material + role-aware routing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212080" cy="5230368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44752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CAFE0"/>
                </a:solidFill>
              </a:rPr>
              <a:t>🗂️  App 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38528"/>
            <a:ext cx="4983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CAFE0"/>
                </a:solidFill>
              </a:rPr>
              <a:t>core/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86000"/>
            <a:ext cx="4983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  auth.service.ts — login/register, JWT storage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633472"/>
            <a:ext cx="4983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  auth.interceptor.ts — attach Bearer token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980944"/>
            <a:ext cx="4983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  auth.guard.ts — protect logged-in routes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328416"/>
            <a:ext cx="4983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  role.guard.ts — role-based redirect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675887"/>
            <a:ext cx="4983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CAFE0"/>
                </a:solidFill>
              </a:rPr>
              <a:t>features/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023360"/>
            <a:ext cx="4983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  auth/ — Login &amp; Register pages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370832"/>
            <a:ext cx="4983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  apartments/ — List, Detail, Create/Edit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718304"/>
            <a:ext cx="4983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  bookings/ — My Bookings, Incoming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065776"/>
            <a:ext cx="4983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  admin/ — Users &amp; All Bookings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413248"/>
            <a:ext cx="4983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CAFE0"/>
                </a:solidFill>
              </a:rPr>
              <a:t>shared/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760720"/>
            <a:ext cx="4983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  Navbar, ApartmentCard, ConfirmDialog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1371600"/>
            <a:ext cx="5870448" cy="2514600"/>
          </a:xfrm>
          <a:prstGeom prst="rect">
            <a:avLst/>
          </a:prstGeom>
          <a:solidFill>
            <a:srgbClr val="2E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1444752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🌟  Key UX Features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1938528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●  Search &amp; filter: city, price, bedrooms, dates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2286000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●  Booking form with date-range pickers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2633472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●  Landlord dashboard: approve / reject requests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2980944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●  Tenant dashboard: track booking status &amp; pay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3328416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●  Admin panel: manage users &amp; all bookings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3675887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●  Responsive Angular Material design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89320" y="4023360"/>
            <a:ext cx="5870448" cy="2578608"/>
          </a:xfrm>
          <a:prstGeom prst="rect">
            <a:avLst/>
          </a:prstGeom>
          <a:solidFill>
            <a:srgbClr val="6A1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0" y="4096512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🔐  Security in the UI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4553712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●  JWT stored in localStorage on login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4956048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●  Interceptor auto-attaches token to every HTTP call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5358384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●  Route guards prevent unauthorized page access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576072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●  Role-aware navbar shows correct links per role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6163056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●  API calls fail gracefully on 401 / 403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4CA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Unit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80467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CAFE0"/>
                </a:solidFill>
              </a:rPr>
              <a:t>xUnit + Moq + FluentAssertions — 5 test suites covering 100% rubric tier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2761488" cy="5230368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44752"/>
            <a:ext cx="2606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BookingService
Tests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139696"/>
            <a:ext cx="2761488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2249424"/>
            <a:ext cx="257860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✓  Overlap correctly detected &amp; rejected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3054096"/>
            <a:ext cx="257860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✓  TotalPrice = nights × PricePerNight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3858768"/>
            <a:ext cx="257860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✓  Approve only from Pending 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4663440"/>
            <a:ext cx="257860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✓  Only landlord can approve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5468112"/>
            <a:ext cx="257860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✓  Only tenant can cancel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18688" y="1371600"/>
            <a:ext cx="2761488" cy="5230368"/>
          </a:xfrm>
          <a:prstGeom prst="rect">
            <a:avLst/>
          </a:prstGeom>
          <a:solidFill>
            <a:srgbClr val="2E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0128" y="1444752"/>
            <a:ext cx="2606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ApartmentService
Tests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18688" y="2139696"/>
            <a:ext cx="2761488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28416" y="2249424"/>
            <a:ext cx="257860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✓  CRUD returns correct DTOs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28416" y="3054096"/>
            <a:ext cx="257860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✓  Only owner can update/delete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28416" y="3858768"/>
            <a:ext cx="257860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✓  NotFoundException on missing 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28416" y="4663440"/>
            <a:ext cx="257860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✓  Search filters applied correctly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63056" y="1371600"/>
            <a:ext cx="2761488" cy="5230368"/>
          </a:xfrm>
          <a:prstGeom prst="rect">
            <a:avLst/>
          </a:prstGeom>
          <a:solidFill>
            <a:srgbClr val="6A1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54496" y="1444752"/>
            <a:ext cx="2606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PaymentService
Tests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63056" y="2139696"/>
            <a:ext cx="2761488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72784" y="2249424"/>
            <a:ext cx="257860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✓  Pay only Approved booking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2784" y="3054096"/>
            <a:ext cx="257860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✓  Booking status set to Paid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2784" y="3858768"/>
            <a:ext cx="257860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✓  Transaction atomicity enforced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72784" y="4663440"/>
            <a:ext cx="257860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✓  Duplicate payment rejected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07424" y="1371600"/>
            <a:ext cx="2761488" cy="5230368"/>
          </a:xfrm>
          <a:prstGeom prst="rect">
            <a:avLst/>
          </a:prstGeom>
          <a:solidFill>
            <a:srgbClr val="1A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98864" y="1444752"/>
            <a:ext cx="2606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Controller &amp;
Repo Tests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07424" y="2139696"/>
            <a:ext cx="2761488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17152" y="2249424"/>
            <a:ext cx="257860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✓  ApartmentsController: status codes + DTOs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17152" y="3054096"/>
            <a:ext cx="257860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✓  Unauthorized returns 401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17152" y="3858768"/>
            <a:ext cx="257860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✓  ApartmentRepository: InMemory DB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17152" y="4663440"/>
            <a:ext cx="257860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✓  Filter/search returns correct data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4CA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Cloud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80467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CAFE0"/>
                </a:solidFill>
              </a:rPr>
              <a:t>Full Azure stack — API + Database + Frontend all hosted in the cloud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71600"/>
            <a:ext cx="3703320" cy="5230368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☁️  Azure App Service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011680"/>
            <a:ext cx="370332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2121408"/>
            <a:ext cx="3547872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Hosts the .NET 8 Web API
  • Runs DB migrations on first deploy
  • Connection strings in App Config (not Git)
  • /health endpoint confirms uptime
  • HTTPS by default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371600"/>
            <a:ext cx="3703320" cy="5230368"/>
          </a:xfrm>
          <a:prstGeom prst="rect">
            <a:avLst/>
          </a:prstGeom>
          <a:solidFill>
            <a:srgbClr val="2E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07408" y="14630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🗄️  Azure SQL Database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2011680"/>
            <a:ext cx="370332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61688" y="2121408"/>
            <a:ext cx="3547872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Cloud SQL Server instance
  • Same EF Core code — only connection string changes
  • Azure Firewall rules restrict access
  • Automatic backups
  • DbSeeder creates roles + admin on startup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0456" y="1371600"/>
            <a:ext cx="3703320" cy="5230368"/>
          </a:xfrm>
          <a:prstGeom prst="rect">
            <a:avLst/>
          </a:prstGeom>
          <a:solidFill>
            <a:srgbClr val="6A1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7616" y="14630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🌐  Azure Static Web Apps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0456" y="2011680"/>
            <a:ext cx="370332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11896" y="2121408"/>
            <a:ext cx="3547872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Hosts the Angular production build
  • Global CDN delivery
  • API_URL set to App Service endpoint
  • CORS updated to allow this origin
  • Free tier, instant deploys from GitHub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4CA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CI/CD — GitHub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80467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CAFE0"/>
                </a:solidFill>
              </a:rPr>
              <a:t>Automated build → test → deploy on every push to main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413248" cy="5230368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44752"/>
            <a:ext cx="52303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CAFE0"/>
                </a:solidFill>
              </a:rPr>
              <a:t>⚙️  api.yml — Backend Pipeline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1993392"/>
            <a:ext cx="1051560" cy="566928"/>
          </a:xfrm>
          <a:prstGeom prst="rect">
            <a:avLst/>
          </a:prstGeom>
          <a:solidFill>
            <a:srgbClr val="4CA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084832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2F5E"/>
                </a:solidFill>
              </a:rPr>
              <a:t>Trigger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19072" y="2103120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Push to main branch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596896"/>
            <a:ext cx="34747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CAFE0"/>
                </a:solidFill>
              </a:rPr>
              <a:t>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" y="2743200"/>
            <a:ext cx="1051560" cy="566928"/>
          </a:xfrm>
          <a:prstGeom prst="rect">
            <a:avLst/>
          </a:prstGeom>
          <a:solidFill>
            <a:srgbClr val="4CA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834640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2F5E"/>
                </a:solidFill>
              </a:rPr>
              <a:t>Restore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19072" y="2852928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dotnet restore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346704"/>
            <a:ext cx="34747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CAFE0"/>
                </a:solidFill>
              </a:rPr>
              <a:t>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" y="3493008"/>
            <a:ext cx="1051560" cy="566928"/>
          </a:xfrm>
          <a:prstGeom prst="rect">
            <a:avLst/>
          </a:prstGeom>
          <a:solidFill>
            <a:srgbClr val="4CA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58444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2F5E"/>
                </a:solidFill>
              </a:rPr>
              <a:t>Build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19072" y="3602736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dotnet build --no-restore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4096512"/>
            <a:ext cx="34747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CAFE0"/>
                </a:solidFill>
              </a:rPr>
              <a:t>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352" y="4242816"/>
            <a:ext cx="1051560" cy="566928"/>
          </a:xfrm>
          <a:prstGeom prst="rect">
            <a:avLst/>
          </a:prstGeom>
          <a:solidFill>
            <a:srgbClr val="4CA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334256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2F5E"/>
                </a:solidFill>
              </a:rPr>
              <a:t>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19072" y="4352544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dotnet test  →  blocks deploy on failure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4846320"/>
            <a:ext cx="34747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CAFE0"/>
                </a:solidFill>
              </a:rPr>
              <a:t>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0352" y="4992624"/>
            <a:ext cx="1051560" cy="566928"/>
          </a:xfrm>
          <a:prstGeom prst="rect">
            <a:avLst/>
          </a:prstGeom>
          <a:solidFill>
            <a:srgbClr val="4CA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084064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2F5E"/>
                </a:solidFill>
              </a:rPr>
              <a:t>Publish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19072" y="5102352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dotnet publish -c Release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" y="5596128"/>
            <a:ext cx="34747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CAFE0"/>
                </a:solidFill>
              </a:rPr>
              <a:t>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0352" y="5742431"/>
            <a:ext cx="1051560" cy="566928"/>
          </a:xfrm>
          <a:prstGeom prst="rect">
            <a:avLst/>
          </a:prstGeom>
          <a:solidFill>
            <a:srgbClr val="4CA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833871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2F5E"/>
                </a:solidFill>
              </a:rPr>
              <a:t>Deploy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19072" y="5852159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Azure App Service Action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6208" y="1371600"/>
            <a:ext cx="5623560" cy="5230368"/>
          </a:xfrm>
          <a:prstGeom prst="rect">
            <a:avLst/>
          </a:prstGeom>
          <a:solidFill>
            <a:srgbClr val="2E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73368" y="1444752"/>
            <a:ext cx="5440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⚡  client.yml — Frontend Pipeline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1993392"/>
            <a:ext cx="105156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19088" y="2103120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5EA8"/>
                </a:solidFill>
              </a:rPr>
              <a:t>Trigger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71231" y="2121408"/>
            <a:ext cx="4160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Push to main branch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48272" y="2651760"/>
            <a:ext cx="347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▼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2889504"/>
            <a:ext cx="105156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19088" y="2999232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5EA8"/>
                </a:solidFill>
              </a:rPr>
              <a:t>Install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71231" y="3017520"/>
            <a:ext cx="4160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npm ci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48272" y="3547872"/>
            <a:ext cx="347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▼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3785616"/>
            <a:ext cx="105156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19088" y="3895344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5EA8"/>
                </a:solidFill>
              </a:rPr>
              <a:t>Build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71231" y="3913632"/>
            <a:ext cx="4160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ng build --configuration production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48272" y="4443984"/>
            <a:ext cx="347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▼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4681728"/>
            <a:ext cx="105156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19088" y="4791456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5EA8"/>
                </a:solidFill>
              </a:rPr>
              <a:t>Deploy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71231" y="4809744"/>
            <a:ext cx="4160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Azure Static Web Apps Action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73368" y="5669280"/>
            <a:ext cx="5440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✅  Failing tests block ALL deployments to the cloud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4CA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Team Contributions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80467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CAFE0"/>
                </a:solidFill>
              </a:rPr>
              <a:t>South East European University — SOA Final Project 2025–26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3767328" cy="5230368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444752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Edin Snopche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938528"/>
            <a:ext cx="3767328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057400"/>
            <a:ext cx="34747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●  Project architecture &amp; solution setup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34056"/>
            <a:ext cx="34747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●  Domain + Application layers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10712"/>
            <a:ext cx="34747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●  ApartmentService &amp; CRUD logic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087368"/>
            <a:ext cx="34747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●  Azure App Service + Azure SQL deploy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764024"/>
            <a:ext cx="34747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●  GitHub Actions CI/CD pipelines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440680"/>
            <a:ext cx="34747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●  Swagger / CORS / Middleware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117336"/>
            <a:ext cx="34747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●  Project coordination &amp; Git strategy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59" y="1371600"/>
            <a:ext cx="3767328" cy="5230368"/>
          </a:xfrm>
          <a:prstGeom prst="rect">
            <a:avLst/>
          </a:prstGeom>
          <a:solidFill>
            <a:srgbClr val="2E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1444752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Mesut Izeti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59" y="1938528"/>
            <a:ext cx="3767328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40" y="2057400"/>
            <a:ext cx="34747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●  Authentication (JWT + ASP.NET Identity)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2734056"/>
            <a:ext cx="34747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●  TokenService + AuthService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3410712"/>
            <a:ext cx="34747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●  AuthController (register/login)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4087368"/>
            <a:ext cx="34747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●  BookingService (full state machine)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764024"/>
            <a:ext cx="34747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●  PaymentService &amp; PaymentsController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5440680"/>
            <a:ext cx="34747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●  Booking overlap &amp; price logic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6117336"/>
            <a:ext cx="34747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●  Role-based authorization setup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1371600"/>
            <a:ext cx="3767328" cy="5230368"/>
          </a:xfrm>
          <a:prstGeom prst="rect">
            <a:avLst/>
          </a:prstGeom>
          <a:solidFill>
            <a:srgbClr val="6A1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1444752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Besjana Sulejmani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1938528"/>
            <a:ext cx="3767328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0" y="2057400"/>
            <a:ext cx="34747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●  Angular frontend setup + routing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2734056"/>
            <a:ext cx="34747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●  Angular Material UI theme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3410712"/>
            <a:ext cx="34747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●  auth.service + interceptor + guards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4087368"/>
            <a:ext cx="34747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●  All Angular feature modules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764024"/>
            <a:ext cx="34747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●  Apartment search &amp; listing UI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5440680"/>
            <a:ext cx="34747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●  Booking &amp; admin dashboards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6117336"/>
            <a:ext cx="34747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●  Azure Static Web App deployment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21808"/>
            <a:ext cx="12188952" cy="91440"/>
          </a:xfrm>
          <a:prstGeom prst="rect">
            <a:avLst/>
          </a:prstGeom>
          <a:solidFill>
            <a:srgbClr val="4CA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13248"/>
            <a:ext cx="12188952" cy="1444752"/>
          </a:xfrm>
          <a:prstGeom prst="rect">
            <a:avLst/>
          </a:prstGeom>
          <a:solidFill>
            <a:srgbClr val="12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868680"/>
            <a:ext cx="9445752" cy="4315968"/>
          </a:xfrm>
          <a:prstGeom prst="rect">
            <a:avLst/>
          </a:prstGeom>
          <a:solidFill>
            <a:srgbClr val="1E3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868680"/>
            <a:ext cx="9445752" cy="73152"/>
          </a:xfrm>
          <a:prstGeom prst="rect">
            <a:avLst/>
          </a:prstGeom>
          <a:solidFill>
            <a:srgbClr val="4CA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005840"/>
            <a:ext cx="94457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4CAFE0"/>
                </a:solidFill>
              </a:rPr>
              <a:t>Project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664208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CAFE0"/>
                </a:solidFill>
              </a:rPr>
              <a:t>🏗️ 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664208"/>
            <a:ext cx="6400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Layered SOA: Domain → Application → Infrastructure →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139696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CAFE0"/>
                </a:solidFill>
              </a:rPr>
              <a:t>🔒 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139696"/>
            <a:ext cx="6400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JWT + ASP.NET Identity, full role-based access (Admin/Landlord/Tenant)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615184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CAFE0"/>
                </a:solidFill>
              </a:rPr>
              <a:t>📊  Business Logic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615184"/>
            <a:ext cx="6400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Booking state machine, overlap detection, server-side price computation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090672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CAFE0"/>
                </a:solidFill>
              </a:rPr>
              <a:t>☁️  Cloud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090672"/>
            <a:ext cx="6400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Azure App Service + Azure SQL + Azure Static Web Apps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566160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CAFE0"/>
                </a:solidFill>
              </a:rPr>
              <a:t>⚙️  DevOps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566160"/>
            <a:ext cx="6400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GitHub Actions: build, test (gate), and deploy on every push to main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041648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CAFE0"/>
                </a:solidFill>
              </a:rPr>
              <a:t>✅  Quality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041648"/>
            <a:ext cx="6400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xUnit + Moq: 5 test suites covering services, controllers &amp; repositories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5559552"/>
            <a:ext cx="12188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Thank You!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0" y="6053328"/>
            <a:ext cx="12188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CAFE0"/>
                </a:solidFill>
              </a:rPr>
              <a:t>Edin Snopche  •  Mesut Izeti  •  Besjana Sulejmani  |  SEEU  |  2025–26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